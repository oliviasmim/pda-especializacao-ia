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[00:00–00:02] Semana 3. Eles já têm um CLAUDE.md desde a semana passada — hoje a gente descobre se ele serve pra alguma coisa. Ler a frase da capa em voz alta e deixar 3 segundos de silêncio antes de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[00:02–00:03] Plantar a frase sem explicar. "Ela volta três vezes hoje. Toda vez que aparecer, é porque a gente chegou no mesmo mecanismo por outro caminho." Não desenvolver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[00:03–00:04] "Três coisas dessa semana, dois minutos cada. Duas delas são sobre o arquivo que a gente vai escrever hoje." Não adiantar qual.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[00:04–00:06] Notícia 1. Contar a história: dois agentes no mesmo repo, dois arquivos com o mesmo conteúdo, symlink pra fingir que era um só. Na v2.1.277, de 18/09, o Claude Code passou a checar AGENTS.md quando não acha CLAUDE.md, e dá pra ligar/desligar no /config. Fechar com a pergunta em aberto do slide. IMPORTANTE: essa notícia contradiz o que estava escrito no material da semana passada — assumir isso em voz alta, é o gancho do slide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[00:06–00:08] Notícia 2. A conta: se o limite era 100, o bônus de maio levou a 150, e o "aumento permanente de 25%" leva a 125. As duas contas são verdadeiras, só uma bate com a experiência de quem abre o terminal todo dia. A Anthropic reconheceu depois. Lição prática pra turma: rodar /status antes de começar tarefa longa.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[00:08–00:10] Notícia 3. O ponto que interessa pra eles não é o modelo: é o hábito de não deixar nome de modelo fixo em um lugar só. Já rolou com o Copilot removendo modelo antigo. Fechar com a pergunta e passar pro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[00:10–00:11] Sorteio na hora. Não responder por eles. Se travar, passa pra outra pessoa e volta depois. A facilitadora só corrige — essa parte não vira exposição.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[00:11–00:25] Três perguntas, sorteio pra cada. A terceira é a ponte pra aula de hoje: o CLAUDE.md deles já existe, e a pergunta é se ele muda alguma coisa. Guardar 2 ou 3 respostas boas pra citar no bloco 1. AJUSTAR essas perguntas ao que a semana 2 de fato cobriu.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[00:25–00:27] O mapa da aula. Cada objetivo é uma decisão que eles vão tomar hoje, no projeto deles. Ler as quatro em voz alta e dizer que a última começa às 20h50. Não explicar nenhuma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[00:27–00:28] "Vou pedir pro agente gerar um arquivo de regras do zero, na frente de vocês. Reparem no que ele acerta e no que ele não tem como saber." Abrir o terminal antes de virar 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[00:28–00:30] Não preparar nada antes — rodar /init ao vivo, num projeto que eles não viram. Antes de mostrar o resultado, fazer a pergunta do slide e deixar decidirem em dupla. "Eu quero ver se a turma já chuta certo antes de eu mostrar." Anotar 2 respostas no quadro.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[00:30–00:32] Mostrar o arquivo gerado. "Ele acertou tudo que estava no código. O que ele não leu foi a nossa história de erro." Comparar com o que a turma chutou no slide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[00:32–00:35] PONTO DE ERRO PROPOSITAL DA AULA. Mesmo projeto, só com o CLAUDE.md genérico. Pedir "adiciona um teste pra essa função" numa função cujo teste real já existe em tests/. Deixar ele editar o arquivo de teste pra fazer passar. Enquanto quebra, dizer: "não escondam a reação de vocês. Ele editou o teste. Isso é exatamente o tipo de coisa que só vira regra depois que já doeu uma vez." PLANO B: se ele não editar tests/, pedir "faz esse teste passar", que é o fraseado que provoca. Se ainda assim não quebrar, usar o print do ensaio.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[00:35–00:37] O argumento inteiro da aula em um slide. Perguntar antes de mostrar o item 3: "por que ele não escreveu essa regra sozinho?" Deixar alguém responder.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[00:37–00:40] Mostrar um CLAUDE.md real, seu, com regras que citam a origem. "Não é acaso que essa regra parece exatamente com o que aconteceu há dois slides. É assim que toda regra boa nasce."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[00:40–00:42] "Ninguém espera que vocês cheguem no /init com a coluna da direita pronta. Ela se escreve com o tempo, um erro de cada vez." Este slide fecha o objetivo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[00:42–00:45] Objetivo 1: curto, específico e verificável. As três colunas são a régua do Lab 1. O número de 200 linhas é da doc oficial, não é chute. Perguntar: "quem aqui tem CLAUDE.md com mais de 200 linhas?" — e não julgar quem levantar a mão.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[00:45–00:48] Objetivo 4, primeira metade. "Pra vocês hoje só importam projeto e local. Mas o time de vocês daqui a um ano pode ter os quatro. Guarda o nome, não precisa usar ainda." O mais específico é lido por último e ganha.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[00:48–00:50] O caso que torna a hierarquia útil. Perguntar antes de mostrar a resposta: "em qual arquivo você escreve essa exceção?" A resposta errada comum é editar o CLAUDE.md do projeto — que muda a regra pra todo o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[00:50–00:53] Gancho da notícia 1 do Giro. Assumir em voz alta: "o material que eu escrevi pra essa aula dizia que o Claude Code não lia AGENTS.md. Escrevi isso semana passada. Na quinta mudou." Esse é o ponto pedagógico: doc de ferramenta muda debaixo do pé, e o hábito é conferir a versão. Mostrar claude --version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[00:55–00:56] Abrir o Lab 1. Repetir o critério de pronto em voz alta antes de soltar: só commita se o comportamento mudou. Circular pelas mesas, anotar 2 ou 3 regras candidatas boas pra projetar no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[01:10–01:11] "Regra é o que precisa estar sempre lá. Skill é o que só precisa estar lá quando você for usar. Vou provar isso com número, não com opinião." Objetivo 3 começa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[01:11–01:12] A pergunta que decide tudo no bloco 2. Deixar no ar por uns segundos. "Quase tudo parece importante. Quase nada precisa estar sempre carregado. Não é a mesma pergunta."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[01:12–01:15] A tabela oficial de custo de contexto. Ler linha por linha. O ponto: CLAUDE.md paga sempre; skill paga a description sempre e o corpo só quando dispara; MCP paga o nome sempre e o schema quando a tool é usada. Esse slide é o objetivo 3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[01:15–01:17] Progressive Disclosure com a analogia oficial da Anthropic: índice, capítulos, apêndice. "Ninguém lê o apêndice inteiro pra saber se o livro serve pra ele." Os números do slide são da doc, não são estimativa minha.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[01:17–01:18] Rodar /context ao vivo, sem skill nenhuma. Anotar o número no quadro — é o "antes". "Não decorem o número exato, só a ordem de grandeza."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[01:18–01:20] Escrever a skill errada ao vivo, de propósito. "Reparem que estou escrevendo ela errada de propósito, do mesmo jeito que fiz o CLAUDE.md errado lá no começo. É o mesmo erro, roupa diferente." Colar 150-200 linhas no corpo.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[01:20–01:21] Pedir uma tarefa sem nenhuma relação com a skill. Ela dispara. "Não é sorte ruim. Eu escrevi a description pra isso acontecer." PLANO B: se não disparar de primeira, pedir mais duas coisas genéricas, ou usar o print do ensaio.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[01:21–01:22] /context de novo, agora depois da skill gorda ter disparado. Comparar com o número anotado. "Essa é a conta que a gente paga quando a skill é gorda e dispara errado — numa tarefa que nem tinha a ver com ela."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[01:22–01:24] Refatorar a skill ao vivo. "Reparem que o conteúdo não mudou — ele só saiu do corpo e foi pra um arquivo que só é lido quando é preciso." Rodar /context uma terceira vez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[01:24–01:26] Objetivo 6. A frase da doc oficial resolve: "MCP connects Claude to external services. Skills extend what Claude knows, including how to use those services effectively." O exemplo do banco de dados é o que cola: MCP liga no banco, skill documenta o schema. Perguntar antes: "o que vocês acham que é skill e o que é MCP?"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[01:26–01:27] Cada campo é uma decisão, não preenchimento de formulário. allowed-tools: restringir é prática de segurança, e o bloco assíncrono dessa semana já explicou o porquê — aqui só mostro o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[01:27–01:28] "Vocês vão escrever e reescrever essa linha mais do que qualquer outra parte da skill de vocês hoje." Falso positivo e falso negativo são os dois lados do mesmo erro de calibragem.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[01:28–01:29] Objetivo 4, segunda metade — e é uma pegadinha boa: na hierarquia de skills a ordem é invertida em relação ao CLAUDE.md. Pessoal vence projeto. Perguntar antes de mostrar: "se eu tenho uma skill deploy no ~/.claude e o projeto também tem uma deploy, qual roda?" A maioria vai errar.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[01:29–01:31] Os três cenários que eles vão rodar contra a skill do COLEGA na aula 6, não contra a própria. "É mais fácil ver o furo na skill de quem não escreveu ela." Guardar os três nomes — são o formato do relatório cruzado.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[01:31–01:32] Abrir o Lab 2, 25 min. O esqueleto está em starter/skill-skeleton/. Circular e cronometrar. Nos últimos 5 minutos avisar que a skill NÃO precisa estar pronta hoje — precisa estar invocável na aula 6, porque o colega vai testar.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[01:55–01:57] Perguntar ANTES de mostrar cada card. "Qual é o teste de corte de uma regra?" "Quanto custa uma skill que você não usou?" "Pessoal ou projeto — qual ganha?" Só revelar depois da resposta da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[01:57–01:58] Entregável. Frisar: o parágrafo pro dono do negócio é a parte que treina explicar o que você construiu pra quem paga. Prazo: antes da aula 1 da semana 4. Formulário de sempre.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[01:58–01:59] Anunciar o formato da aula 6 com energia — é o primeiro red team do curso. Duplas sorteadas NA HORA, na aula 6, não agora: quem sabe com quem vai trocar escreve a skill pensando na pessoa. O que eles precisam trazer: a skill do Lab 2 invocável. Sem isso, a dupla inteira trava.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[01:59–02:00] Os links ficam no repo também. Frisar o último: a doc muda, e a gente viu isso acontecer hoje na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[02:00] Fechar. Lembrar do Discord e do prazo.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3593592" cy="6858000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/tmp/claude-0/-home-claude/ca31b886-86c8-53af-843f-26cea956f08a/scratchpad/build/assets/star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2286000" cy="2286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5577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PROGRAMADORES
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DO AMANHÃ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297680" y="6858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ESPECIALIZAÇÃO EM DESENVOLVIMENTO COM IA  ·  TURMA 2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4297680" y="1188720"/>
            <a:ext cx="3602736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297680" y="1188720"/>
            <a:ext cx="3602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&lt;/MÓDULO 2 · AULA 5&gt;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297680" y="182880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AGENTS.MD</a:t>
            </a:r>
            <a:endParaRPr lang="en-US" sz="48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 SKILLS</a:t>
            </a:r>
            <a:endParaRPr lang="en-US" sz="4800" dirty="0"/>
          </a:p>
        </p:txBody>
      </p:sp>
      <p:sp>
        <p:nvSpPr>
          <p:cNvPr id="10" name="Text 6"/>
          <p:cNvSpPr/>
          <p:nvPr/>
        </p:nvSpPr>
        <p:spPr>
          <a:xfrm>
            <a:off x="4297680" y="379476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IA NÃO SABE QUAIS SÃO OS SEUS ERROS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ATÉ VOCÊ CONTAR PRA ELA.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297680" y="484632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Arquivo de regras · rules vs skills · custo de contexto · hierarquia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Progressive Disclosure · Skill vs MCP · validar a skill de outra pessoa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297680" y="59436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Iasmim Oliveira  ·  Facilitadora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FIO CONDUTOR DA SEMANA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1645920"/>
            <a:ext cx="111556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60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ATÉ VOCÊ</a:t>
            </a:r>
            <a:endParaRPr lang="en-US" sz="6000" dirty="0"/>
          </a:p>
          <a:p>
            <a:pPr algn="l" indent="0" marL="0">
              <a:lnSpc>
                <a:spcPts val="7920"/>
              </a:lnSpc>
              <a:buNone/>
            </a:pPr>
            <a:r>
              <a:rPr lang="en-US" sz="60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CONTAR</a:t>
            </a:r>
            <a:endParaRPr lang="en-US" sz="6000" dirty="0"/>
          </a:p>
          <a:p>
            <a:pPr algn="l" indent="0" marL="0">
              <a:lnSpc>
                <a:spcPts val="7920"/>
              </a:lnSpc>
              <a:buNone/>
            </a:pPr>
            <a:r>
              <a:rPr lang="en-US" sz="60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PRA ELA.</a:t>
            </a:r>
            <a:endParaRPr lang="en-US" sz="6000" dirty="0"/>
          </a:p>
        </p:txBody>
      </p:sp>
      <p:sp>
        <p:nvSpPr>
          <p:cNvPr id="7" name="Text 3"/>
          <p:cNvSpPr/>
          <p:nvPr/>
        </p:nvSpPr>
        <p:spPr>
          <a:xfrm>
            <a:off x="502920" y="539496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Regra que não nasceu de um erro seu é regra que não existe ainda. Skill sem gatilho escrito na description é skill que dispara errado.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GIRO DAS IAS · 14 A 21 DE SETEMBRO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2816352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&lt;/GIRO DAS IAS&gt;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828800"/>
            <a:ext cx="3547872" cy="320040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8952" y="202996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58952" y="235915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CLAUDE CODE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PASSOU A LER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AGENTS.MD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58952" y="3246120"/>
            <a:ext cx="30358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formato que a OpenAI criou virou padrão de casa também na Anthropic.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06824" y="1828800"/>
            <a:ext cx="3547872" cy="320040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62856" y="202996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62856" y="235915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AUMENTO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 25% QUE É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QUEDA DE 17%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62856" y="3246120"/>
            <a:ext cx="30358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Limite semanal do Claude Code subiu no anúncio e desceu na prática.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10728" y="1828800"/>
            <a:ext cx="3547872" cy="320040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66760" y="202996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366760" y="235915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RELÓGIO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DO GPT-5.5</a:t>
            </a:r>
            <a:endParaRPr lang="en-US" sz="1400" dirty="0"/>
          </a:p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COMEÇOU A CONTAR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8366760" y="3246120"/>
            <a:ext cx="30358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Aposentadoria marcada no ChatGPT e no Codex. A API sobrevive.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2920" y="525780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primeira muda uma linha do material desta aula. Você vai ver qual.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NENHUMA DAS TRÊS É SOBRE MODELO NOVO.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AS TRÊS SÃO SOBRE O QUE MUDA NA SUA MÁQUINA.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GIRO DAS IAS · 01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7534656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7534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&lt;/CLAUDE.MD E AGENTS.MD, AGORA OS DOIS VALEM&gt;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2920" y="138988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Depois de meses de arquivo de instrução duplicado, a Anthropic aceitou ler o formato que a OpenAI criou.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" y="1828800"/>
            <a:ext cx="11155680" cy="105156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182880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TL;DR — O CLAUDE CODE PASSOU A LER O AGENTS.MD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QUANDO NÃO EXISTE UM CLAUDE.MD NO PROJETO.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02920" y="306324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3063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78408" y="3008376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Arquivo de instrução é o markdown na raiz do repo que explica como o projeto funciona: comandos, convenções, o que não mexer. A Anthropic chama o dela de CLAUDE.md. A OpenAI criou o AGENTS.md e doou o padrão pra Agentic AI Foundation, ligada à Linux Foundation.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813048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813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78408" y="3758184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Quem usava os dois agentes no mesmo repositório mantinha dois arquivos com o mesmo conteúdo, ou um symlink pra fingir que era um só.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2920" y="4562856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" y="4562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978408" y="4507992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 versão 2.1.277, de 18 de setembro, o Claude Code passou a checar o AGENTS.md sempre que não encontra um CLAUDE.md. Dá pra ligar e desligar no /config.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2920" y="5312664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2920" y="53126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978408" y="5257800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Aconteceu agora porque nenhum time sério usa uma ferramenta só: Claude Code, Codex, Cursor e Copilot convivem no mesmo repo, e um arquivo por ferramenta era fricção sem propósito.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02920" y="589788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Falta ver: Cursor e Copilot vão ler o AGENTS.md nos mesmos termos, ou cada um mantém a sua variação por baixo do capô?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theregister.com/ai-and-ml/2026/09/18/anthropic-decides-to-support-openais-markdown-instructions-spec · code.claude.com/docs/en/changelog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GIRO DAS IAS · 02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643371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643371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 AUMENTO DE 25% QUE É QUEDA DE 17%&gt;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2920" y="138988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Anthropic melhorou os limites do Claude Code no mesmo dia em que, pra quem já usava, a cota ficou menor.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" y="1828800"/>
            <a:ext cx="11155680" cy="105156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182880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TL;DR — UM BÔNUS TEMPORÁRIO DE +50% VIROU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UM AUMENTO PERMANENTE DE +25%. A CONTA DÁ MENOS.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02920" y="3063240"/>
            <a:ext cx="11155680" cy="2148840"/>
          </a:xfrm>
          <a:prstGeom prst="rect">
            <a:avLst/>
          </a:prstGeom>
          <a:solidFill>
            <a:srgbClr val="150518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7512" y="3209544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8680" y="3209544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69848" y="3209544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417320" y="313639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conta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31520" y="3520440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rate limit = o teto de uso semanal antes do plano te cortar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31520" y="3735324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31520" y="3950208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6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limite original .................... 100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31520" y="4165092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bônus temporário de maio (+50%) .... 150   &lt;- o que você vinha usando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731520" y="4379976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aumento permanente de 14/09 (+25%) . 125   &lt;- o que você tem agora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731520" y="4594860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731520" y="4809744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8A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150 -&gt; 125  =  -17%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02920" y="539496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você roda tarefa longa (refatoração, PR grande, agente em segundo plano), confere o /status antes de começar. E, da próxima vez que um lab anunciar aumento de limite: aumento comparado a quê?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bleepingcomputer.com/news/artificial-intelligence/anthropic-is-cutting-claude-codes-current-weekly-limits-by-17-percent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GIRO DAS IAS · 03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6748272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6748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 RELÓGIO DO GPT-5.5 COMEÇOU A CONTAR&gt;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2920" y="138988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OpenAI marcou data pra tirar o modelo do ar dentro do ChatGPT e do Codex. A API sobrevive, o resto não.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" y="1828800"/>
            <a:ext cx="11155680" cy="105156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182880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TL;DR — GPT-5.5 SAI DO CHATGPT, DO CHATGPT WORK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 DO CODEX EM 14 DE OUTUBRO.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02920" y="306324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3063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78408" y="3008376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Anunciado em 14/09: quem usa o modelo pelos planos de assinatura é empurrado pro GPT-5.6 Sol ou pro GPT-6 Astra. Quem chama direto pela API com chave própria continua igual.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813048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3813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78408" y="3758184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 mesma leva, o GPT-5.3-Codex-Spark saiu do Codex CLI e do ChatGPT desktop. Um mês de aviso virou o padrão da casa antes de desligar algo.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2920" y="4562856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" y="4562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978408" y="4507992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você tem script, agente ou preset apontando pro model ID gpt-5.5 (o nome que identifica a versão exata), isso precisa mudar antes de 14/10 — senão a tarefa começa a falhar, às vezes em silêncio, caindo pra outro modelo sem avisar.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2920" y="5312664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2920" y="53126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978408" y="5257800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hábito que fica: não deixar nome de modelo fixo em um lugar só, e olhar o changelog da ferramenta que você usa todo dia.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02920" y="589788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o modelo que seu agente usa pode sumir com um mês de aviso, seu projeto sabe trocar sem você reescrever nada?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businesstoday.in/technology/artificial-intelligence/story/openai-to-retire-gpt-5-5-from-chatgpt-work-and-codex-on-october-14 · learn.chatgpt.com/docs/changelog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RECAP ATIVO · CONDUZIDO POR VOCÊS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1737360"/>
            <a:ext cx="111556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016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ANTES DE SEGUIR:</a:t>
            </a:r>
            <a:endParaRPr lang="en-US" sz="3800" dirty="0"/>
          </a:p>
          <a:p>
            <a:pPr algn="l" indent="0" marL="0">
              <a:lnSpc>
                <a:spcPts val="5016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QUE FICOU</a:t>
            </a:r>
            <a:endParaRPr lang="en-US" sz="3800" dirty="0"/>
          </a:p>
          <a:p>
            <a:pPr algn="l" indent="0" marL="0">
              <a:lnSpc>
                <a:spcPts val="5016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 SEMANA PASSADA?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502920" y="51206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Eu sorteio, você explica. Errar aqui é de graça — errar no lab custa 25 minutos.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RECAP ATIVO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4703674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47036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&lt;/QUEM RESPONDE É SORTEADO&gt;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828800"/>
            <a:ext cx="3547872" cy="374904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8952" y="202996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pergunta 01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58952" y="235915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CONTEXTO É MESA</a:t>
            </a:r>
            <a:endParaRPr lang="en-US" sz="1300" dirty="0"/>
          </a:p>
          <a:p>
            <a:pPr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 TRABALHO.</a:t>
            </a:r>
            <a:endParaRPr lang="en-US" sz="1300" dirty="0"/>
          </a:p>
          <a:p>
            <a:pPr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QUE ISSO QUER</a:t>
            </a:r>
            <a:endParaRPr lang="en-US" sz="1300" dirty="0"/>
          </a:p>
          <a:p>
            <a:pPr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DIZER NA PRÁTICA?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58952" y="3246120"/>
            <a:ext cx="303580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como você percebe que a mesa encheu, sem olhar número nenhum?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06824" y="1828800"/>
            <a:ext cx="3547872" cy="374904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62856" y="202996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pergunta 02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62856" y="235915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INSISTO</a:t>
            </a:r>
            <a:endParaRPr lang="en-US" sz="1300" dirty="0"/>
          </a:p>
          <a:p>
            <a:pPr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OU RECOMEÇO?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62856" y="3246120"/>
            <a:ext cx="303580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 foi o critério que você usou essa semana pra dar /clear numa sessão?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10728" y="1828800"/>
            <a:ext cx="3547872" cy="374904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66760" y="202996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pergunta 03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366760" y="235915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CLAUDE.MD</a:t>
            </a:r>
            <a:endParaRPr lang="en-US" sz="1300" dirty="0"/>
          </a:p>
          <a:p>
            <a:pPr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QUE VOCÊ ESCREVEU</a:t>
            </a:r>
            <a:endParaRPr lang="en-US" sz="1300" dirty="0"/>
          </a:p>
          <a:p>
            <a:pPr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MUDOU ALGUMA</a:t>
            </a:r>
            <a:endParaRPr lang="en-US" sz="1300" dirty="0"/>
          </a:p>
          <a:p>
            <a:pPr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COISA?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366760" y="3246120"/>
            <a:ext cx="303580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 você sabe que mudou? Testou com e sem?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2920" y="58064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pergunta 3 é a aula de hoje inteira. Se ninguém testou, ótimo: é exatamente o que a gente vai fazer.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MAPA DA AULA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4860950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486095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&lt;/HOJE VOCÊ TOMA 4 DECISÕES&gt;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600200"/>
            <a:ext cx="3291840" cy="40233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160020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DECISÃO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794760" y="1600200"/>
            <a:ext cx="4480560" cy="40233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931920" y="1600200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PERGUNTA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275320" y="1600200"/>
            <a:ext cx="3383280" cy="40233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412480" y="160020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 ELA APARECE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2002536"/>
            <a:ext cx="3291840" cy="841248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" y="2002536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· Quem escreve a regra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794760" y="2002536"/>
            <a:ext cx="4480560" cy="841248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931920" y="2002536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Eu escrevo, ou peço pro agente gerar sozinho?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75320" y="2002536"/>
            <a:ext cx="3383280" cy="841248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412480" y="2002536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1 · demo do /init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2920" y="2843784"/>
            <a:ext cx="3291840" cy="841248"/>
          </a:xfrm>
          <a:prstGeom prst="rect">
            <a:avLst/>
          </a:prstGeom>
          <a:solidFill>
            <a:srgbClr val="2A042E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0080" y="2843784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 · O que entra no arquivo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794760" y="2843784"/>
            <a:ext cx="4480560" cy="841248"/>
          </a:xfrm>
          <a:prstGeom prst="rect">
            <a:avLst/>
          </a:prstGeom>
          <a:solidFill>
            <a:srgbClr val="2A042E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931920" y="2843784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Tirar essa linha faria o agente errar? Se não, ela sai.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275320" y="2843784"/>
            <a:ext cx="3383280" cy="841248"/>
          </a:xfrm>
          <a:prstGeom prst="rect">
            <a:avLst/>
          </a:prstGeom>
          <a:solidFill>
            <a:srgbClr val="2A042E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412480" y="2843784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1 · Lab 1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02920" y="3685032"/>
            <a:ext cx="3291840" cy="841248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0080" y="3685032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 · Sempre ou sob demanda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3794760" y="3685032"/>
            <a:ext cx="4480560" cy="841248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931920" y="3685032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Isso precisa estar sempre na janela, ou só quando eu chamar?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8275320" y="3685032"/>
            <a:ext cx="3383280" cy="841248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412480" y="3685032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2 · medição do /context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02920" y="4526280"/>
            <a:ext cx="3291840" cy="841248"/>
          </a:xfrm>
          <a:prstGeom prst="rect">
            <a:avLst/>
          </a:prstGeom>
          <a:solidFill>
            <a:srgbClr val="3D1247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40080" y="4526280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 · Escolhe e sai criando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3794760" y="4526280"/>
            <a:ext cx="4480560" cy="841248"/>
          </a:xfrm>
          <a:prstGeom prst="rect">
            <a:avLst/>
          </a:prstGeom>
          <a:solidFill>
            <a:srgbClr val="3D1247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931920" y="4526280"/>
            <a:ext cx="4206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 coisa que eu repito vira a minha primeira skill?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8275320" y="4526280"/>
            <a:ext cx="3383280" cy="841248"/>
          </a:xfrm>
          <a:prstGeom prst="rect">
            <a:avLst/>
          </a:prstGeom>
          <a:solidFill>
            <a:srgbClr val="3D1247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412480" y="4526280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2 · Lab 2 e aula 6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502920" y="521208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Decisão C é escolha de raciocínio, não comando de terminal: quase tudo parece importante, quase nada precisa estar sempre carregado. Decisão D é a de sair criando com informação incompleta — escolher uma coisa que você repete e já escrever, hoje, mesmo sem ter certeza de que é a melhor escolha.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1 · 19:25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4074566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407456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&lt;/QUEM ESCREVE A REGRA&gt;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2920" y="1828800"/>
            <a:ext cx="11155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752"/>
              </a:lnSpc>
              <a:buNone/>
            </a:pPr>
            <a:r>
              <a:rPr lang="en-US" sz="36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ELE LÊ SEU CÓDIGO.</a:t>
            </a:r>
            <a:endParaRPr lang="en-US" sz="3600" dirty="0"/>
          </a:p>
          <a:p>
            <a:pPr algn="l" indent="0" marL="0">
              <a:lnSpc>
                <a:spcPts val="4752"/>
              </a:lnSpc>
              <a:buNone/>
            </a:pPr>
            <a:r>
              <a:rPr lang="en-US" sz="36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ELE NUNCA VIU</a:t>
            </a:r>
            <a:endParaRPr lang="en-US" sz="3600" dirty="0"/>
          </a:p>
          <a:p>
            <a:pPr algn="l" indent="0" marL="0">
              <a:lnSpc>
                <a:spcPts val="4752"/>
              </a:lnSpc>
              <a:buNone/>
            </a:pPr>
            <a:r>
              <a:rPr lang="en-US" sz="36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VOCÊ ERRANDO NELE.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502920" y="521208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 2 da aula: explicar por que a IA não deve gerar sozinha o próprio arquivo de regras.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1 · DEMO AO VIVO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4074566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407456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&lt;/DEMO · /INIT AO VIVO&gt;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554480"/>
            <a:ext cx="11155680" cy="2468880"/>
          </a:xfrm>
          <a:prstGeom prst="rect">
            <a:avLst/>
          </a:prstGeom>
          <a:solidFill>
            <a:srgbClr val="150518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67512" y="1700784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8680" y="1700784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69848" y="1700784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417320" y="162763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 preparo — é pra dar o que der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31520" y="2011680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cd ~/projeto-que-voces-nao-viram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31520" y="2226564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claude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31520" y="2441448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31520" y="2656332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/init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31520" y="2871216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6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● Read(package.json)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31520" y="3086100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6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● Read(README.md)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31520" y="3300984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6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● Bash(ls -R src)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31520" y="3515868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6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● Write(CLAUDE.md)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2920" y="4206240"/>
            <a:ext cx="11155680" cy="150876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77240" y="4206240"/>
            <a:ext cx="10607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ANTES DE EU MOSTRAR O RESULTADO: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QUE ESSE ARQUIVO PODE SABER SÓ LENDO O CÓDIGO?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QUE ELE NÃO TEM COMO SABER?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502920" y="589788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Decide com quem está do seu lado. 60 segundos.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code.claude.com/docs/en/memory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1 · O QUE VOLTOU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4074566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407456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 CLAUDE.MD GENÉRICO&gt;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508760"/>
            <a:ext cx="11155680" cy="2377440"/>
          </a:xfrm>
          <a:prstGeom prst="rect">
            <a:avLst/>
          </a:prstGeom>
          <a:solidFill>
            <a:srgbClr val="3A1E40"/>
          </a:solidFill>
          <a:ln w="19050">
            <a:solidFill>
              <a:srgbClr val="EDDC11"/>
            </a:solidFill>
            <a:prstDash val="dash"/>
          </a:ln>
        </p:spPr>
      </p:sp>
      <p:sp>
        <p:nvSpPr>
          <p:cNvPr id="9" name="Text 5"/>
          <p:cNvSpPr/>
          <p:nvPr/>
        </p:nvSpPr>
        <p:spPr>
          <a:xfrm>
            <a:off x="777240" y="1508760"/>
            <a:ext cx="10607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PRINT: o CLAUDE.md que o /init gerou ao vivo — capturar no ensaio ]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02920" y="411480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41148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78408" y="4059936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Leu o package.json. </a:t>
            </a:r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Acertou a stack.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2920" y="466344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78408" y="4608576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Leu os scripts. </a:t>
            </a:r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Acertou o comando de teste.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" y="521208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52120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78408" y="5157216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Leu a árvore de pastas. </a:t>
            </a:r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Descreveu a estrutura.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02920" y="576072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2920" y="57607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978408" y="5705856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escreveu nenhuma regra sobre um erro que ainda não aconteceu. </a:t>
            </a:r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tinha como.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code.claude.com/docs/en/memory — "Set up a project CLAUDE.md"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1 · DEMO AO VIVO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4389120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&lt;/AGORA EU DEIXO QUEBRAR&gt;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2920" y="137160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MÃO NA MASSA — NÃO. AINDA NÃO. SÓ ASSISTE ESSA PARTE.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02920" y="1828800"/>
            <a:ext cx="5449824" cy="338328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58952" y="20299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 a regra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58952" y="235915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ELE EDITA</a:t>
            </a:r>
            <a:endParaRPr lang="en-US" sz="1900" dirty="0"/>
          </a:p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TESTE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758952" y="324612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Peço "faz esse teste passar". Ele abre tests/, muda a asserção, o teste fica verde e o bug continua lá.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Ninguém escreveu que tests/ é intocável. Ele não tem como adivinhar.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08776" y="1828800"/>
            <a:ext cx="5449824" cy="338328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64808" y="20299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 a regra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64808" y="235915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ELE MEXE</a:t>
            </a:r>
            <a:endParaRPr lang="en-US" sz="1900" dirty="0"/>
          </a:p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 CÓDIGO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464808" y="324612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Mesma sessão, mesma frase, uma linha a mais no CLAUDE.md: "os arquivos em tests/ são a especificação, nunca edite."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Nada mais mudou no projeto.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02920" y="544068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regra não existia porque ninguém sabia que precisava dela. Nem eu, até agora.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code.claude.com/docs/en/best-practices#write-an-effective-claude-md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1 · O PORQUÊ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13716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NINGUÉM SABE QUAL É A REGRA</a:t>
            </a:r>
            <a:endParaRPr lang="en-US" sz="2400" dirty="0"/>
          </a:p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ANTES DO ERRO ACONTECER.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02920" y="283464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2834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78408" y="2779776"/>
            <a:ext cx="10515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regra não existia porque ninguém sabia que precisava dela. </a:t>
            </a:r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Nem eu, e eu escrevi esse projeto.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02920" y="3675888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36758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78408" y="3621024"/>
            <a:ext cx="10515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agente lê o que está no código. </a:t>
            </a:r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 não tem acesso ao que ainda vai dar errado com você, nesse projeto, nessa semana.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2920" y="4517136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4517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978408" y="4462272"/>
            <a:ext cx="10515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isso o /init é um começo, não uma entrega. </a:t>
            </a:r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própria doc da Anthropic manda tratar o CLAUDE.md como código: revisar quando algo der errado, podar com frequência, e testar a mudança olhando se o comportamento dele mudou de verdade.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02920" y="5358384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" y="5358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978408" y="5303520"/>
            <a:ext cx="10515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Fio condutor: </a:t>
            </a:r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ela não sabe — até você contar pra ela.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code.claude.com/docs/en/best-practices — "Treat CLAUDE.md like code"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1 · COMO UMA REGRA BOA NASCE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4546397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454639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&lt;/REGRA É MEMÓRIA DE ERRO&gt;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508760"/>
            <a:ext cx="11155680" cy="3063240"/>
          </a:xfrm>
          <a:prstGeom prst="rect">
            <a:avLst/>
          </a:prstGeom>
          <a:solidFill>
            <a:srgbClr val="150518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67512" y="1655064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8680" y="1655064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69848" y="1655064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417320" y="158191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CLAUDE.md — projeto real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31520" y="1965960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CLAUDE.md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31520" y="2180844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31520" y="2395728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## O que não mexer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31520" y="2610612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6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 Os arquivos em tests/ são a especificação. Nunca edite.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31520" y="2825496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# nasceu em 12/09: pedi "faz passar" e ele mudou a asserção.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31520" y="3040380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31520" y="3255264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6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 Nunca rode `npm install` sem me perguntar.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31520" y="3470148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# nasceu em 08/09: subiu uma major e quebrou o build da turma.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31520" y="3685032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31520" y="3899916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## Comandos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31520" y="4114800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6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 teste: npm test    (roda antes de dizer que terminou)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02920" y="480060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regra cita a sessão e o erro que a gerou. É memória de uma coisa específica que aconteceu com você, nesse repositório. O comentário de origem serve pra você poder apagar a regra com segurança no dia em que ela parar de fazer sentido.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1 · CONTRASTE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6276442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62764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&lt;/MESMO ARQUIVO. HISTÓRICO DIFERENTE&gt;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600200"/>
            <a:ext cx="5449824" cy="356616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8952" y="18013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gerado pelo /init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58952" y="213055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QUE DÁ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PRA LER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 CÓDIGO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58952" y="301752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comandos de build e teste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estrutura de pastas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 histórico de erro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08776" y="1600200"/>
            <a:ext cx="5449824" cy="356616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64808" y="18013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escrito por você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464808" y="213055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QUE SÓ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VOCÊ VIU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ACONTECER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464808" y="301752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regra que nasceu de um erro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origem (sessão, commit, data)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ele fez e não devia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previne a recorrência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2920" y="5349240"/>
            <a:ext cx="11155680" cy="91440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53492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UM CLAUDE.MD SÓ GENÉRICO NÃO ESTÁ ERRADO.</a:t>
            </a:r>
            <a:endParaRPr lang="en-US" sz="1600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ESTÁ INCOMPLETO. FALTA A SEGUNDA COLUNA.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1 · OBJETIVO 1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5647334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56473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&lt;/CURTO, ESPECÍFICO, VERIFICÁVEL&gt;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572768"/>
            <a:ext cx="3547872" cy="301752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8952" y="1773936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curto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58952" y="210312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MENOS DE</a:t>
            </a:r>
            <a:endParaRPr lang="en-US" sz="1800" dirty="0"/>
          </a:p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200 LINHAS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58952" y="2990088"/>
            <a:ext cx="303580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doc oficial dá o número. Arquivo inchado faz o Claude ignorar as instruções que você realmente queria — e você paga o token dele em toda sessão.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06824" y="1572768"/>
            <a:ext cx="3547872" cy="301752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62856" y="1773936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específico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62856" y="210312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"2 ESPAÇOS",</a:t>
            </a:r>
            <a:endParaRPr lang="en-US" sz="1800" dirty="0"/>
          </a:p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NÃO "FORMATE</a:t>
            </a:r>
            <a:endParaRPr lang="en-US" sz="1800" dirty="0"/>
          </a:p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DIREITO"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562856" y="2990088"/>
            <a:ext cx="303580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Exemplo da própria doc. Regra vaga não é regra: é uma frase que faz você achar que resolveu.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10728" y="1572768"/>
            <a:ext cx="3547872" cy="301752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66760" y="1773936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verificável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366760" y="210312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TIRAR ESSA</a:t>
            </a:r>
            <a:endParaRPr lang="en-US" sz="1800" dirty="0"/>
          </a:p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LINHA FARIA</a:t>
            </a:r>
            <a:endParaRPr lang="en-US" sz="1800" dirty="0"/>
          </a:p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ELE ERRAR?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366760" y="2990088"/>
            <a:ext cx="303580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a resposta é não, ela sai. Esse é o teste de corte, e é o critério do Lab 1.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2920" y="4754880"/>
            <a:ext cx="5577840" cy="40233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0080" y="4754880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 NO ARQUIVO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080760" y="4754880"/>
            <a:ext cx="5577840" cy="40233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217920" y="4754880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FICA DE FORA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02920" y="5157216"/>
            <a:ext cx="5577840" cy="1051560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0080" y="5157216"/>
            <a:ext cx="5303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Comandos que ele não adivinha · convenção que foge do padrão da linguagem · como rodar os testes · etiqueta do repositório · decisão de arquitetura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080760" y="5157216"/>
            <a:ext cx="5577840" cy="1051560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217920" y="5157216"/>
            <a:ext cx="5303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dá pra descobrir lendo o código · convenção padrão da linguagem · documentação longa · informação que muda toda semana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code.claude.com/docs/en/best-practices#write-an-effective-claude-md — "Bloated CLAUDE.md files cause Claude to ignore your actual instructions"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1 · OBJETIVO 4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6119165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611916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&lt;/HIERARQUIA: QUEM GANHA O CONFLITO&gt;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600200"/>
            <a:ext cx="10058400" cy="749808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" y="160020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MANAGED POLICY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200400" y="1600200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organização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577840" y="160020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/etc/claude-code/CLAUDE.md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412480" y="1600200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 de TI. você não edita.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02920" y="2441448"/>
            <a:ext cx="10058400" cy="749808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" y="244144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USUÁRIO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200400" y="2441448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você, em toda máquina sua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577840" y="2441448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~/.claude/CLAUDE.md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412480" y="2441448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suas preferências, todo projeto.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2920" y="3282696"/>
            <a:ext cx="10058400" cy="749808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7240" y="328269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PROJETO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200400" y="3282696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time inteiro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577840" y="3282696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./CLAUDE.md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8412480" y="3282696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versionado no git.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02920" y="4123944"/>
            <a:ext cx="10058400" cy="74980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77240" y="4123944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LOCAL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3200400" y="4123944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você, só aqui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5577840" y="4123944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./CLAUDE.local.md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8412480" y="4123944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está no .gitignore.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10625328" y="1600200"/>
            <a:ext cx="1097280" cy="3090672"/>
          </a:xfrm>
          <a:prstGeom prst="rect">
            <a:avLst/>
          </a:prstGeom>
          <a:solidFill>
            <a:srgbClr val="3A1E40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0625328" y="1600200"/>
            <a:ext cx="109728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MAIS</a:t>
            </a:r>
            <a:endParaRPr lang="en-US" sz="9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9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ESPECÍFICO</a:t>
            </a:r>
            <a:endParaRPr lang="en-US" sz="9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9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GANHA</a:t>
            </a:r>
            <a:endParaRPr lang="en-US" sz="9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9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↓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502920" y="493776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Existe ainda .claude/rules/&lt;arquivo&gt;.md com escopo por paths — regra que só vale pra uma parte do código (só pra src/api/, por exemplo). Serve pra quem tem um CLAUDE.md crescendo demais. Guarda o nome.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code.claude.com/docs/en/memory#choose-where-to-put-claude-md-files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1 · CASO PRÁTICO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7062826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706282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&lt;/EM QUAL ARQUIVO VOCÊ ESCREVE A EXCEÇÃO?&gt;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2920" y="137160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Você está numa branch de refatoração dos próprios testes. Só nessa branch, só na sua máquina, você quer que o agente possa tocar em tests/. A regra do time diz que não pode.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02920" y="2286000"/>
            <a:ext cx="5449824" cy="301752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58952" y="24871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./CLAUDE.md — projeto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58952" y="281635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"NUNCA EDITE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TESTS/"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58952" y="37033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Vale pro time inteiro. Está no git. Mudar aqui muda pra todo mundo, inclusive pra quem não está refatorando nada.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08776" y="2286000"/>
            <a:ext cx="5449824" cy="301752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64808" y="24871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./CLAUDE.local.md — local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64808" y="281635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"NESTA BRANCH,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PODE EDITAR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TESTS/"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464808" y="37033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vai pro git. Lido depois do projeto, então ganha. A regra do time continua valendo pra todo mundo, menos pra você, nessa branch, hoje.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2920" y="5486400"/>
            <a:ext cx="11155680" cy="77724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77240" y="54864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HIERARQUIA SERVE PRA ISSO: ESCREVER A EXCEÇÃO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SEM QUEBRAR A REGRA DE TODO MUNDO.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1 · O QUE MUDOU NA QUINTA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4231843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423184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&lt;/AGENTS.MD E CLAUDE.MD&gt;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508760"/>
            <a:ext cx="11155680" cy="2697480"/>
          </a:xfrm>
          <a:prstGeom prst="rect">
            <a:avLst/>
          </a:prstGeom>
          <a:solidFill>
            <a:srgbClr val="150518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67512" y="1655064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8680" y="1655064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69848" y="1655064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417320" y="158191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 sua máquina, agora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31520" y="1965960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claude --version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31520" y="2180844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6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2.1.277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31520" y="2395728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31520" y="2610612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a partir dessa versão: sem CLAUDE.md no projeto, ele lê AGENTS.md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31520" y="2825496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liga/desliga em /config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31520" y="3040380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31520" y="3255264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ainda funciona, e continua sendo a ponte mais explícita: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31520" y="3470148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echo "@AGENTS.md" &gt;&gt; CLAUDE.md      # import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31520" y="3685032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E78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ln -s AGENTS.md CLAUDE.md          # symlink (no Windows, prefira o import)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02920" y="429768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02920" y="42976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978408" y="424281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AGENTS.md é formato aberto,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mantido pela Agentic AI Foundation (Linux Foundation). Mais de 60 mil projetos open source usam. Codex, Cursor, Copilot, Jules e outros leem.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502920" y="4919472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2920" y="4919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978408" y="48646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o seu time usa mais de um agente — e vai usar —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AGENTS.md é a escolha mais segura por padrão: funciona em mais ferramentas sem duplicar arquivo.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502920" y="5541264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5412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78408" y="5486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material dessa aula dizia o contrário até quinta-feira.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 de ferramenta muda debaixo do pé. Confere a versão antes de acreditar em qualquer tutorial, inclusive no meu.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agents.md · code.claude.com/docs/en/memory#agentsmd · changelog v2.1.277 (18/09/2026)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/tmp/claude-0/-home-claude/ca31b886-86c8-53af-843f-26cea956f08a/scratchpad/build/assets/star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320040"/>
            <a:ext cx="50292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920" y="1051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MÃO NA MASSA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02920" y="1417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LAB 1</a:t>
            </a:r>
            <a:endParaRPr lang="en-US" sz="5400" dirty="0"/>
          </a:p>
        </p:txBody>
      </p:sp>
      <p:sp>
        <p:nvSpPr>
          <p:cNvPr id="7" name="Text 3"/>
          <p:cNvSpPr/>
          <p:nvPr/>
        </p:nvSpPr>
        <p:spPr>
          <a:xfrm>
            <a:off x="502920" y="23774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REGRA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OU RUÍDO?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502920" y="39319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⏱ 15 min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02920" y="43434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seu projeto próprio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precisa: CLAUDE.md commitado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 um erro real que já aconteceu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02920" y="6035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terminal aberto do lado ›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343400" y="10515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CRITÉRIO É COMPORTAMENTO,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NÃO OPINIÃO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4343400" y="205740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343400" y="20574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18888" y="2002536"/>
            <a:ext cx="667512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Escolhe um erro real.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coisa que o agente fez essa semana e você não queria. Do seu projeto, não hipotético.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343400" y="283464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43400" y="2834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18888" y="2779776"/>
            <a:ext cx="667512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Escreve a regra candidata.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linha, específica. "Formate direito" não vale.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343400" y="361188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343400" y="36118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18888" y="3557016"/>
            <a:ext cx="667512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Testa sem a regra.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/clear, faz o pedido que causou o erro, guarda o que ele fez.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4343400" y="438912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343400" y="4389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18888" y="4334256"/>
            <a:ext cx="667512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Testa com a regra.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Adiciona no CLAUDE.md, /clear de novo, mesmo pedido, mesmas palavras.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343400" y="516636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343400" y="5166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818888" y="5111496"/>
            <a:ext cx="667512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Compara e decide.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Mudou? Commita, com o comentário de origem. Não mudou? A regra sai — é ruído que você ia pagar em toda sessão.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434340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PRONTO QUANDO:  você consegue mostrar as duas saídas, lado a lado, e apontar o que mudou.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2 · 20:10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5804611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580461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&lt;/SEMPRE CARREGADO OU SOB DEMANDA&gt;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2920" y="1737360"/>
            <a:ext cx="111556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092"/>
              </a:lnSpc>
              <a:buNone/>
            </a:pPr>
            <a:r>
              <a:rPr lang="en-US" sz="31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CLAUDE.MD CUSTA TOKEN</a:t>
            </a:r>
            <a:endParaRPr lang="en-US" sz="3100" dirty="0"/>
          </a:p>
          <a:p>
            <a:pPr algn="l" indent="0" marL="0">
              <a:lnSpc>
                <a:spcPts val="4092"/>
              </a:lnSpc>
              <a:buNone/>
            </a:pPr>
            <a:r>
              <a:rPr lang="en-US" sz="31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EM TODA SESSÃO.</a:t>
            </a:r>
            <a:endParaRPr lang="en-US" sz="3100" dirty="0"/>
          </a:p>
          <a:p>
            <a:pPr algn="l" indent="0" marL="0">
              <a:lnSpc>
                <a:spcPts val="4092"/>
              </a:lnSpc>
              <a:buNone/>
            </a:pPr>
            <a:r>
              <a:rPr lang="en-US" sz="31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SKILL SÓ CUSTA</a:t>
            </a:r>
            <a:endParaRPr lang="en-US" sz="3100" dirty="0"/>
          </a:p>
          <a:p>
            <a:pPr algn="l" indent="0" marL="0">
              <a:lnSpc>
                <a:spcPts val="4092"/>
              </a:lnSpc>
              <a:buNone/>
            </a:pPr>
            <a:r>
              <a:rPr lang="en-US" sz="31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QUANDO VOCÊ CHAMA.</a:t>
            </a:r>
            <a:endParaRPr lang="en-US" sz="3100" dirty="0"/>
          </a:p>
        </p:txBody>
      </p:sp>
      <p:sp>
        <p:nvSpPr>
          <p:cNvPr id="9" name="Text 5"/>
          <p:cNvSpPr/>
          <p:nvPr/>
        </p:nvSpPr>
        <p:spPr>
          <a:xfrm>
            <a:off x="502920" y="539496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 3: diferenciar rules sempre carregadas de skills sob demanda, e medir o custo de contexto de cada uma.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2 · DECISÃO C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1554480"/>
            <a:ext cx="11155680" cy="137160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155448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PERGUNTA CERTA NÃO É</a:t>
            </a:r>
            <a:endParaRPr lang="en-US" sz="2400" dirty="0"/>
          </a:p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"ISSO É IMPORTANTE?"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02920" y="3200400"/>
            <a:ext cx="11155680" cy="137160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" y="32004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É "ISSO PRECISA ESTAR SEMPRE AQUI,</a:t>
            </a:r>
            <a:endParaRPr lang="en-US" sz="2400" dirty="0"/>
          </a:p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OU SÓ QUANDO EU FOR USAR?"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502920" y="493776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Essa é a escolha de raciocínio do dia. Quase tudo no seu projeto parece importante. Quase nada precisa estar carregado em toda sessão. A primeira pergunta enche o arquivo; a segunda decide onde cada coisa mora.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2 · OBJETIVO 3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596188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5961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 QUE CADA COISA CUSTA NA JANELA&gt;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572768"/>
            <a:ext cx="2103120" cy="40233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157276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RECURSO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06040" y="1572768"/>
            <a:ext cx="4480560" cy="40233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0" y="1572768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ENTRA NA JANELA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086600" y="1572768"/>
            <a:ext cx="2834640" cy="40233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223760" y="157276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QUANDO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9921240" y="1572768"/>
            <a:ext cx="1737360" cy="40233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0" y="157276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1975104"/>
            <a:ext cx="2103120" cy="868680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1975104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CLAUDE.md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(rules)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2606040" y="1975104"/>
            <a:ext cx="4480560" cy="868680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43200" y="1975104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conteúdo inteiro do arquivo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086600" y="1975104"/>
            <a:ext cx="2834640" cy="868680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223760" y="1975104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toda requisição, use ou não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9921240" y="1975104"/>
            <a:ext cx="1737360" cy="868680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058400" y="1975104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alto e constante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02920" y="2843784"/>
            <a:ext cx="2103120" cy="868680"/>
          </a:xfrm>
          <a:prstGeom prst="rect">
            <a:avLst/>
          </a:prstGeom>
          <a:solidFill>
            <a:srgbClr val="3D1247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0080" y="2843784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2606040" y="2843784"/>
            <a:ext cx="4480560" cy="868680"/>
          </a:xfrm>
          <a:prstGeom prst="rect">
            <a:avLst/>
          </a:prstGeom>
          <a:solidFill>
            <a:srgbClr val="3D1247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743200" y="2843784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name + description de cada skill; o corpo só quando ela é usada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7086600" y="2843784"/>
            <a:ext cx="2834640" cy="868680"/>
          </a:xfrm>
          <a:prstGeom prst="rect">
            <a:avLst/>
          </a:prstGeom>
          <a:solidFill>
            <a:srgbClr val="3D1247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223760" y="2843784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description sempre; corpo sob demanda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9921240" y="2843784"/>
            <a:ext cx="1737360" cy="868680"/>
          </a:xfrm>
          <a:prstGeom prst="rect">
            <a:avLst/>
          </a:prstGeom>
          <a:solidFill>
            <a:srgbClr val="3D1247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0058400" y="2843784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baixo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502920" y="3712464"/>
            <a:ext cx="2103120" cy="868680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40080" y="3712464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MCP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2606040" y="3712464"/>
            <a:ext cx="4480560" cy="868680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743200" y="3712464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nomes das tools; os schemas completos sob demanda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7086600" y="3712464"/>
            <a:ext cx="2834640" cy="868680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223760" y="3712464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nomes sempre; schema quando usa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9921240" y="3712464"/>
            <a:ext cx="1737360" cy="868680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10058400" y="3712464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baixo até usar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502920" y="4581144"/>
            <a:ext cx="2103120" cy="868680"/>
          </a:xfrm>
          <a:prstGeom prst="rect">
            <a:avLst/>
          </a:prstGeom>
          <a:solidFill>
            <a:srgbClr val="2A042E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40080" y="4581144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Hooks</a:t>
            </a:r>
            <a:endParaRPr lang="en-US" sz="1150" dirty="0"/>
          </a:p>
        </p:txBody>
      </p:sp>
      <p:sp>
        <p:nvSpPr>
          <p:cNvPr id="42" name="Shape 38"/>
          <p:cNvSpPr/>
          <p:nvPr/>
        </p:nvSpPr>
        <p:spPr>
          <a:xfrm>
            <a:off x="2606040" y="4581144"/>
            <a:ext cx="4480560" cy="868680"/>
          </a:xfrm>
          <a:prstGeom prst="rect">
            <a:avLst/>
          </a:prstGeom>
          <a:solidFill>
            <a:srgbClr val="2A042E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2743200" y="4581144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nada, a menos que o hook devolva contexto</a:t>
            </a:r>
            <a:endParaRPr lang="en-US" sz="1150" dirty="0"/>
          </a:p>
        </p:txBody>
      </p:sp>
      <p:sp>
        <p:nvSpPr>
          <p:cNvPr id="44" name="Shape 40"/>
          <p:cNvSpPr/>
          <p:nvPr/>
        </p:nvSpPr>
        <p:spPr>
          <a:xfrm>
            <a:off x="7086600" y="4581144"/>
            <a:ext cx="2834640" cy="868680"/>
          </a:xfrm>
          <a:prstGeom prst="rect">
            <a:avLst/>
          </a:prstGeom>
          <a:solidFill>
            <a:srgbClr val="2A042E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223760" y="4581144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</a:t>
            </a:r>
            <a:endParaRPr lang="en-US" sz="1150" dirty="0"/>
          </a:p>
        </p:txBody>
      </p:sp>
      <p:sp>
        <p:nvSpPr>
          <p:cNvPr id="46" name="Shape 42"/>
          <p:cNvSpPr/>
          <p:nvPr/>
        </p:nvSpPr>
        <p:spPr>
          <a:xfrm>
            <a:off x="9921240" y="4581144"/>
            <a:ext cx="1737360" cy="868680"/>
          </a:xfrm>
          <a:prstGeom prst="rect">
            <a:avLst/>
          </a:prstGeom>
          <a:solidFill>
            <a:srgbClr val="2A042E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10058400" y="4581144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</a:t>
            </a:r>
            <a:endParaRPr lang="en-US" sz="1150" dirty="0"/>
          </a:p>
        </p:txBody>
      </p:sp>
      <p:sp>
        <p:nvSpPr>
          <p:cNvPr id="48" name="Shape 44"/>
          <p:cNvSpPr/>
          <p:nvPr/>
        </p:nvSpPr>
        <p:spPr>
          <a:xfrm>
            <a:off x="502920" y="5532120"/>
            <a:ext cx="11155680" cy="73152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CUSTO NÃO É O TAMANHO DO ARQUIVO.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É O TAMANHO DO ARQUIVO VEZES O NÚMERO DE SESSÕES.</a:t>
            </a:r>
            <a:endParaRPr lang="en-US" sz="1500" dirty="0"/>
          </a:p>
        </p:txBody>
      </p:sp>
      <p:sp>
        <p:nvSpPr>
          <p:cNvPr id="50" name="Text 46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code.claude.com/docs/en/features-overview — tabela "Context cost by feature"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2 · PROGRESSIVE DISCLOSURE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5175504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51755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&lt;/TRÊS NÍVEIS, COMO UM MANUAL&gt;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600200"/>
            <a:ext cx="3547872" cy="374904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8952" y="180136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nível 1 · índice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58952" y="213055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NAME +</a:t>
            </a:r>
            <a:endParaRPr lang="en-US" sz="1900" dirty="0"/>
          </a:p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DESCRIPTION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58952" y="3017520"/>
            <a:ext cx="303580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~100 tokens por skill.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Carregado sempre, em toda sessão. É a única coisa que o Claude lê pra decidir se abre o resto.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06824" y="1600200"/>
            <a:ext cx="3547872" cy="374904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62856" y="180136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nível 2 · capítulo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62856" y="213055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CORPO DO</a:t>
            </a:r>
            <a:endParaRPr lang="en-US" sz="1900" dirty="0"/>
          </a:p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SKILL.MD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562856" y="3017520"/>
            <a:ext cx="303580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Menos de 5.000 tokens.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 na janela só quando a skill dispara. Depois que entra, fica — cada linha vira custo recorrente.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10728" y="1600200"/>
            <a:ext cx="3547872" cy="374904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66760" y="180136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nível 3 · apêndice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366760" y="213055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REFERENCE.MD</a:t>
            </a:r>
            <a:endParaRPr lang="en-US" sz="1900" dirty="0"/>
          </a:p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 OS OUTROS</a:t>
            </a:r>
            <a:endParaRPr lang="en-US" sz="1900" dirty="0"/>
          </a:p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ARQUIVOS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8366760" y="3017520"/>
            <a:ext cx="303580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 token até alguém ler.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entra se um passo do corpo mandar abrir. Pode ter o tamanho que precisar.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2920" y="55778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 a mesma lógica de qualquer manual bom: índice sempre visível, capítulo aberto quando precisa, apêndice consultado raramente. Ninguém lê o apêndice pra decidir se abre o livro.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anthropic.com/engineering/equipping-agents-for-the-real-world-with-agent-skills · platform.claude.com/docs/en/agents-and-tools/agent-skills/overview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2 · DEMO AO VIVO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4074566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407456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&lt;/MEDE ANTES DE OPINAR&gt;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554480"/>
            <a:ext cx="11155680" cy="2651760"/>
          </a:xfrm>
          <a:prstGeom prst="rect">
            <a:avLst/>
          </a:prstGeom>
          <a:solidFill>
            <a:srgbClr val="150518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67512" y="1700784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8680" y="1700784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69848" y="1700784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417320" y="162763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linha de base — nenhuma skill customizada ainda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31520" y="2011680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/context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31520" y="2226564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31520" y="2441448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6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system prompt ......... [  ]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31520" y="2656332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6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CLAUDE.md ............. [  ]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31520" y="2871216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6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skills (descriptions) . [  ]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31520" y="3086100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6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tools ................. [  ]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31520" y="3300984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────────────────────────────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31520" y="3515868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total ................. [  ]  &lt;- ANOTA ESSE NÚMERO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2920" y="443484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2920" y="44348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978408" y="437997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Isso é o que toda sessão sua já custa </a:t>
            </a:r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 de você digitar qualquer coisa.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02920" y="5148072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02920" y="51480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978408" y="50932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Guarda o número. </a:t>
            </a:r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Daqui a quatro slides a gente compara com ele duas vezes: depois da skill errada e depois da certa.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502920" y="5623560"/>
            <a:ext cx="11155680" cy="73152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77240" y="56235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OPINIÃO SOBRE CUSTO DE CONTEXTO NÃO VALE NADA.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/CONTEXT VALE.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2 · DEMO AO VIVO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4389120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&lt;/A SKILL GORDA, AO VIVO&gt;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2920" y="137160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MÃO NA MASSA — SÓ ASSISTE. TESTA NA SUA VEZ.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02920" y="1828800"/>
            <a:ext cx="11155680" cy="2468880"/>
          </a:xfrm>
          <a:prstGeom prst="rect">
            <a:avLst/>
          </a:prstGeom>
          <a:solidFill>
            <a:srgbClr val="150518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67512" y="1975104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68680" y="1975104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69848" y="1975104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417320" y="190195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escrita errada de propósito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31520" y="2286000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.claude/skills/ajuda-geral/SKILL.md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31520" y="2500884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6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---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1520" y="2715768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A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name: ajuda-geral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31520" y="2930652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A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description: ajuda com várias coisas do projeto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31520" y="3145536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6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---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31520" y="3360420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31520" y="3575304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... e aqui embaixo, 180 linhas de convenção, exemplo e checklist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31520" y="3790188"/>
            <a:ext cx="106984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tudo no corpo. nada em arquivo separado. nenhum gatilho em lugar nenhum.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02920" y="457200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02920" y="4572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978408" y="451713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Nome vago, description vaga.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"Ajuda com várias coisas" descreve qualquer pedido que alguém faria no projeto.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502920" y="5193792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2920" y="51937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978408" y="5138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Tudo no corpo.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Nenhum arquivo de referência. Quando ela disparar, entram as 180 linhas de uma vez.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502920" y="5815584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8155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78408" y="5760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 o mesmo erro do CLAUDE.md genérico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começo da aula, em outra roupa: tentar cobrir tudo em vez de nomear quando usar.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platform.claude.com/docs/en/agents-and-tools/agent-skills/best-practices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2 · DEMO AO VIVO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3130906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313090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&lt;/FALSO POSITIVO&gt;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508760"/>
            <a:ext cx="11155680" cy="2468880"/>
          </a:xfrm>
          <a:prstGeom prst="rect">
            <a:avLst/>
          </a:prstGeom>
          <a:solidFill>
            <a:srgbClr val="3A1E40"/>
          </a:solidFill>
          <a:ln w="19050">
            <a:solidFill>
              <a:srgbClr val="EDDC11"/>
            </a:solidFill>
            <a:prstDash val="dash"/>
          </a:ln>
        </p:spPr>
      </p:sp>
      <p:sp>
        <p:nvSpPr>
          <p:cNvPr id="9" name="Text 5"/>
          <p:cNvSpPr/>
          <p:nvPr/>
        </p:nvSpPr>
        <p:spPr>
          <a:xfrm>
            <a:off x="777240" y="1508760"/>
            <a:ext cx="10607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PRINT: a skill ajuda-geral disparando numa tarefa sem relação nenhuma ]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02920" y="420624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4206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78408" y="4151376"/>
            <a:ext cx="105156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Peço uma tarefa qualquer,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nenhuma palavra que devesse acionar a skill.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2920" y="4773168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4773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78408" y="4718304"/>
            <a:ext cx="105156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Ela dispara.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Isso é falso positivo: invocou quando não devia.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5340096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53400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78408" y="5285232"/>
            <a:ext cx="105156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é bug do Claude Code.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 a description sem gatilho fazendo exatamente o que ela permite — qualquer coisa parece "várias coisas do projeto".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02920" y="5907024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2920" y="59070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978408" y="5852160"/>
            <a:ext cx="105156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description é o campo que decide,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o nome e não o corpo. É o único que o Claude lê antes de abrir o resto.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2 · DEMO AO VIVO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3288182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328818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 SALTO, MEDIDO&gt;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508760"/>
            <a:ext cx="11155680" cy="2286000"/>
          </a:xfrm>
          <a:prstGeom prst="rect">
            <a:avLst/>
          </a:prstGeom>
          <a:solidFill>
            <a:srgbClr val="3A1E40"/>
          </a:solidFill>
          <a:ln w="19050">
            <a:solidFill>
              <a:srgbClr val="EDDC11"/>
            </a:solidFill>
            <a:prstDash val="dash"/>
          </a:ln>
        </p:spPr>
      </p:sp>
      <p:sp>
        <p:nvSpPr>
          <p:cNvPr id="9" name="Text 5"/>
          <p:cNvSpPr/>
          <p:nvPr/>
        </p:nvSpPr>
        <p:spPr>
          <a:xfrm>
            <a:off x="777240" y="1508760"/>
            <a:ext cx="10607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GIF ou PRINT: a barra do /context antes e depois da skill gorda disparar — capturar no ensaio ]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02920" y="3977640"/>
            <a:ext cx="3547872" cy="233172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58952" y="417880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antes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58952" y="450799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LINHA</a:t>
            </a:r>
            <a:endParaRPr lang="en-US" sz="1700" dirty="0"/>
          </a:p>
          <a:p>
            <a:pPr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 BASE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58952" y="5394960"/>
            <a:ext cx="3035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número que a gente anotou quatro slides atrás.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06824" y="3977640"/>
            <a:ext cx="3547872" cy="233172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62856" y="417880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depois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62856" y="450799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AS 180 LINHAS</a:t>
            </a:r>
            <a:endParaRPr lang="en-US" sz="1700" dirty="0"/>
          </a:p>
          <a:p>
            <a:pPr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DENTRO</a:t>
            </a:r>
            <a:endParaRPr lang="en-US" sz="1700" dirty="0"/>
          </a:p>
          <a:p>
            <a:pPr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 JANELA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562856" y="5394960"/>
            <a:ext cx="3035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corpo inteiro entrou. E fica lá pelo resto da sessão.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10728" y="3977640"/>
            <a:ext cx="3547872" cy="233172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366760" y="417880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 o pior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8366760" y="450799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NUMA TAREFA</a:t>
            </a:r>
            <a:endParaRPr lang="en-US" sz="1700" dirty="0"/>
          </a:p>
          <a:p>
            <a:pPr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QUE NEM ERA</a:t>
            </a:r>
            <a:endParaRPr lang="en-US" sz="1700" dirty="0"/>
          </a:p>
          <a:p>
            <a:pPr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DELA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8366760" y="5394960"/>
            <a:ext cx="3035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Falso positivo custa token igual. Custa até quando não ajuda.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2 · DEMO AO VIVO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4231843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423184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&lt;/A MESMA SKILL, ENXUTA&gt;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600200"/>
            <a:ext cx="3547872" cy="365760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8952" y="180136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antes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58952" y="213055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SKILL.MD</a:t>
            </a:r>
            <a:endParaRPr lang="en-US" sz="1800" dirty="0"/>
          </a:p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180 LINHAS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58952" y="3017520"/>
            <a:ext cx="303580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frontmatter vago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convenções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exemplos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checklists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casos de borda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tudo junto, tudo sempre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06824" y="1600200"/>
            <a:ext cx="3547872" cy="365760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62856" y="180136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depois · corpo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62856" y="213055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SKILL.MD</a:t>
            </a:r>
            <a:endParaRPr lang="en-US" sz="1800" dirty="0"/>
          </a:p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~20 LINHAS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562856" y="3017520"/>
            <a:ext cx="303580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faz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quando usar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passos de alto nível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uma linha: "os exemplos estão em reference.md"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10728" y="1600200"/>
            <a:ext cx="3547872" cy="365760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66760" y="180136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depois · apêndice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366760" y="213055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REFERENCE.MD</a:t>
            </a:r>
            <a:endParaRPr lang="en-US" sz="1800" dirty="0"/>
          </a:p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RESTO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366760" y="3017520"/>
            <a:ext cx="303580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convenções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exemplos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checklists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casos de borda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 token até um passo mandar abrir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2920" y="5486400"/>
            <a:ext cx="11155680" cy="77724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54864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CONTEÚDO CONTINUA INTEIRO. ELE SÓ SAIU DO LUGAR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QUE COBRA TOKEN EM TODA INVOCAÇÃO.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code.claude.com/docs/en/skills — "every line is a recurring token cost"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2 · OBJETIVO 6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6905549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690554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&lt;/SKILL É CONHECIMENTO. MCP É CAPACIDADE&gt;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600200"/>
            <a:ext cx="5449824" cy="338328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8952" y="18013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skill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58952" y="213055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QUE ELE</a:t>
            </a:r>
            <a:endParaRPr lang="en-US" sz="1900" dirty="0"/>
          </a:p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SABE FAZER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58952" y="301752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Instruções, convenções, passo a passo. Markdown que você escreve.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dá nenhuma capacidade nova: usa as tools que já existem.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"como revisar um PR no tom da PDA"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08776" y="1600200"/>
            <a:ext cx="5449824" cy="338328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64808" y="18013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mcp / tool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464808" y="213055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QUE ELE</a:t>
            </a:r>
            <a:endParaRPr lang="en-US" sz="1900" dirty="0"/>
          </a:p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CONSEGUE</a:t>
            </a:r>
            <a:endParaRPr lang="en-US" sz="1900" dirty="0"/>
          </a:p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ALCANÇAR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464808" y="301752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 servidor que expõe tools: ler um banco, abrir um browser, chamar a API do Jira.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ensina nada: só abre a porta.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"conectar no banco de produção"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2920" y="5074920"/>
            <a:ext cx="11155680" cy="82296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50749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MCP CONECTA O CLAUDE NO SEU BANCO.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SKILL DOCUMENTA O SCHEMA E COMO CONSULTAR DIREITO.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dois juntos resolvem o que nenhum resolve sozinho. Semana 4 é sobre o outro lado: construir o seu MCP server.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code.claude.com/docs/en/features-overview — aba "MCP vs Skill"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2 · ANATOMIA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3602736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3602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 ARQUIVO INTEIRO&gt;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508760"/>
            <a:ext cx="11155680" cy="3063240"/>
          </a:xfrm>
          <a:prstGeom prst="rect">
            <a:avLst/>
          </a:prstGeom>
          <a:solidFill>
            <a:srgbClr val="150518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67512" y="1655064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8680" y="1655064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69848" y="1655064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1520" y="1965960"/>
            <a:ext cx="10698480" cy="1947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.claude/skills/revisar-pr-pda/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31520" y="2160727"/>
            <a:ext cx="10698480" cy="1947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|-- SKILL.md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31520" y="2355494"/>
            <a:ext cx="10698480" cy="1947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`-- reference.md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31520" y="2550262"/>
            <a:ext cx="10698480" cy="1947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731520" y="2745029"/>
            <a:ext cx="10698480" cy="1947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6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---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31520" y="2939796"/>
            <a:ext cx="10698480" cy="1947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name: revisar-pr-pda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31520" y="3134563"/>
            <a:ext cx="10698480" cy="1947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description: Comenta um PR no tom e nas regras da PDA.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31520" y="3329330"/>
            <a:ext cx="10698480" cy="1947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 Use quando o aluno pedir revisão de um PR ou pull request.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731520" y="3524098"/>
            <a:ext cx="10698480" cy="1947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allowed-tools: Read, Grep, Bash(git diff *)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731520" y="3718865"/>
            <a:ext cx="10698480" cy="1947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6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---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731520" y="3913632"/>
            <a:ext cx="10698480" cy="1947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731520" y="4108399"/>
            <a:ext cx="10698480" cy="1947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o corpo: o que faz, quando usar, passos de alto nível.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731520" y="4303166"/>
            <a:ext cx="10698480" cy="1947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os exemplos longos estão em reference.md.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502920" y="4709160"/>
            <a:ext cx="2194560" cy="40233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0080" y="470916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CAMPO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2697480" y="4709160"/>
            <a:ext cx="8961120" cy="40233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834640" y="4709160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ELE DECIDE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02920" y="5111496"/>
            <a:ext cx="2194560" cy="411480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40080" y="511149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2697480" y="5111496"/>
            <a:ext cx="8961120" cy="411480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834640" y="5111496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nome de exibição, e também o comando /nome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502920" y="5522976"/>
            <a:ext cx="2194560" cy="411480"/>
          </a:xfrm>
          <a:prstGeom prst="rect">
            <a:avLst/>
          </a:prstGeom>
          <a:solidFill>
            <a:srgbClr val="3D1247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0080" y="552297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description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2697480" y="5522976"/>
            <a:ext cx="8961120" cy="411480"/>
          </a:xfrm>
          <a:prstGeom prst="rect">
            <a:avLst/>
          </a:prstGeom>
          <a:solidFill>
            <a:srgbClr val="3D1247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2834640" y="5522976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o Claude invoca a skill sozinho. É o único campo que ele lê antes de abrir o resto.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502920" y="5934456"/>
            <a:ext cx="2194560" cy="411480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40080" y="593445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allowed-tools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2697480" y="5934456"/>
            <a:ext cx="8961120" cy="411480"/>
          </a:xfrm>
          <a:prstGeom prst="rect">
            <a:avLst/>
          </a:prstGeom>
          <a:solidFill>
            <a:srgbClr val="3A1E40"/>
          </a:solidFill>
          <a:ln w="9525">
            <a:solidFill>
              <a:srgbClr val="6E4A7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2834640" y="5934456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a skill roda sem pedir aprovação. Restringe.</a:t>
            </a:r>
            <a:endParaRPr lang="en-US" sz="1150" dirty="0"/>
          </a:p>
        </p:txBody>
      </p:sp>
      <p:sp>
        <p:nvSpPr>
          <p:cNvPr id="41" name="Text 37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code.claude.com/docs/en/skills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2 · A LINHA QUE DECIDE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1371600"/>
            <a:ext cx="11155680" cy="100584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13716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650"/>
              </a:lnSpc>
              <a:buNone/>
            </a:pPr>
            <a:r>
              <a:rPr lang="en-US" sz="30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FAZ X. USE QUANDO Y.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502920" y="248716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parte "use quando" é o gatilho — sem ela, a skill não tem como ser escolhida certo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02920" y="2971800"/>
            <a:ext cx="3547872" cy="292608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58952" y="317296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vaga demais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58952" y="350215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FALSO</a:t>
            </a:r>
            <a:endParaRPr lang="en-US" sz="2200" dirty="0"/>
          </a:p>
          <a:p>
            <a:pPr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POSITIVO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58952" y="4389120"/>
            <a:ext cx="303580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"ajuda com várias coisas do projeto"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Dispara em tudo. Você paga o corpo inteiro em tarefas que não têm nada a ver.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06824" y="2971800"/>
            <a:ext cx="3547872" cy="292608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62856" y="317296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calibrada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62856" y="350215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DISPARA</a:t>
            </a:r>
            <a:endParaRPr lang="en-US" sz="2200" dirty="0"/>
          </a:p>
          <a:p>
            <a:pPr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QUANDO DEVE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562856" y="4389120"/>
            <a:ext cx="303580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"Comenta um PR no tom da PDA. Use quando o aluno pedir revisão de PR ou pull request."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Gatilho nomeado, com o sinônimo que a pessoa usaria de verdade.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10728" y="2971800"/>
            <a:ext cx="3547872" cy="292608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366760" y="317296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restrita demais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366760" y="350215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FALSO</a:t>
            </a:r>
            <a:endParaRPr lang="en-US" sz="2200" dirty="0"/>
          </a:p>
          <a:p>
            <a:pPr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NEGATIVO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8366760" y="4389120"/>
            <a:ext cx="303580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"Use quando o usuário digitar exatamente: revisar-pr-pda"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skill existe e nunca dispara. Pior que não ter: você acha que está protegido.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platform.claude.com/docs/en/agents-and-tools/agent-skills/best-practices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2 · OBJETIVO 4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7220102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7220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&lt;/DUAS SKILLS COM O MESMO NOME: QUAL RODA?&gt;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645920"/>
            <a:ext cx="11155680" cy="713232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" y="164592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 · ENTERPRISE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566160" y="1645920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managed settings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766560" y="164592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organização decidiu. ninguém sobrescreve.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2450592"/>
            <a:ext cx="11155680" cy="713232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245059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 · PESSOAL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66160" y="2450592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~/.claude/skills/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766560" y="2450592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suas skills, em todo projeto seu.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3255264"/>
            <a:ext cx="11155680" cy="713232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3255264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 · PROJETO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566160" y="3255264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.claude/skills/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766560" y="325526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versionado no git, vale pro time.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2920" y="4059936"/>
            <a:ext cx="11155680" cy="713232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4059936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 · ANINHADA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566160" y="4059936"/>
            <a:ext cx="3108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&lt;subpasta&gt;/.claude/skills/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766560" y="4059936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carregada tarde, só quando você trabalha ali.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02920" y="4983480"/>
            <a:ext cx="11155680" cy="91440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7240" y="49834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CUIDADO: AQUI É AO CONTRÁRIO DO CLAUDE.MD.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PESSOAL GANHA DE PROJETO.</a:t>
            </a:r>
            <a:endParaRPr lang="en-US" sz="1700" dirty="0"/>
          </a:p>
        </p:txBody>
      </p:sp>
      <p:sp>
        <p:nvSpPr>
          <p:cNvPr id="26" name="Text 22"/>
          <p:cNvSpPr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deploy em ~/.claude/skills/ e em .claude/skills/ do projeto, o /deploy roda a pessoal. Se a sua skill "não atualizou", é quase sempre isso.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code.claude.com/docs/en/skills#where-skills-live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BLOCO 2 · COMO SE VALIDA UMA SKILL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549005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549005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&lt;/TRÊS CENÁRIOS. SEMPRE OS TRÊS&gt;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600200"/>
            <a:ext cx="3547872" cy="374904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8952" y="180136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cenário 1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58952" y="213055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DISPARA</a:t>
            </a:r>
            <a:endParaRPr lang="en-US" sz="1900" dirty="0"/>
          </a:p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QUANDO DEVE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58952" y="3017520"/>
            <a:ext cx="303580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Pedido real, com as palavras que alguém usaria.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"revisa esse PR pra mim"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teste mais fácil, e o único que quase todo mundo faz.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06824" y="1600200"/>
            <a:ext cx="3547872" cy="374904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62856" y="180136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cenário 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62856" y="213055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NÃO DISPARA</a:t>
            </a:r>
            <a:endParaRPr lang="en-US" sz="1900" dirty="0"/>
          </a:p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QUANDO NÃO DEVE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562856" y="3017520"/>
            <a:ext cx="303580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Pedido sem relação nenhuma.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"me ajuda a escrever um e-mail pro cliente"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disparar aqui é o resultado certo, não uma falha.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10728" y="1600200"/>
            <a:ext cx="3547872" cy="374904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66760" y="180136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cenário 3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366760" y="2130552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 FALSO</a:t>
            </a:r>
            <a:endParaRPr lang="en-US" sz="1900" dirty="0"/>
          </a:p>
          <a:p>
            <a:pPr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POSITIVO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8366760" y="3017520"/>
            <a:ext cx="303580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Pedido de fronteira, que parece relacionado e não é.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"dá uma olhada nesse código"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mais fácil de não testar: ela rodou, então parece que funcionou.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2920" y="55778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Sessão limpa em cada um. Contexto que sobrou de quando você escreveu a skill esconde exatamente o furo que você está procurando.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code.claude.com/docs/en/skills#evaluate-and-iterate-on-a-skill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/tmp/claude-0/-home-claude/ca31b886-86c8-53af-843f-26cea956f08a/scratchpad/build/assets/star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320040"/>
            <a:ext cx="50292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920" y="1051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MÃO NA MASSA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02920" y="1417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LAB 2</a:t>
            </a:r>
            <a:endParaRPr lang="en-US" sz="5400" dirty="0"/>
          </a:p>
        </p:txBody>
      </p:sp>
      <p:sp>
        <p:nvSpPr>
          <p:cNvPr id="7" name="Text 3"/>
          <p:cNvSpPr/>
          <p:nvPr/>
        </p:nvSpPr>
        <p:spPr>
          <a:xfrm>
            <a:off x="502920" y="23774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SUA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PRIMEIRA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SKILL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502920" y="39319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⏱ 25 min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02920" y="43434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seu projeto próprio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esqueleto: starter/skill-skeleton/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precisa: algo que você repete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02920" y="6035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terminal aberto do lado ›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3434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ESCOLHE E JÁ SAI CRIANDO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4343400" y="182880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343400" y="18288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18888" y="1773936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Escolhe algo que você repete de verdade.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Duas vezes ou mais, do mesmo jeito. Não precisa ser a melhor ideia: precisa ser uma de verdade.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343400" y="2633472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43400" y="2633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18888" y="2578608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Copia o esqueleto.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starter/skill-skeleton/ pro .claude/skills/&lt;seu-nome&gt;/ do seu projeto.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343400" y="3438144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343400" y="34381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18888" y="33832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Decide o que vai pro corpo e o que vai pro reference.md.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Corpo: o que faz, quando usar, passos. Apêndice: exemplo longo, checklist, caso de borda.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4343400" y="4242816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343400" y="42428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18888" y="4187952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Escreve a description no padrão "faz X, use quando Y".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o sinônimo que alguém usaria de verdade, não só o termo técnico.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343400" y="5047488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343400" y="50474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818888" y="4992624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Mede o /context antes e depois de invocar. </a:t>
            </a:r>
            <a:pPr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Anota os dois números: eles são metade do seu entregável.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434340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PRONTO QUANDO:  a skill é invocável, tem reference.md, e você tem os dois números do /context.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FECHAMENTO · 20:55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2501798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250179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&lt;/O QUE FICA&gt;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600200"/>
            <a:ext cx="5440680" cy="1298448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8952" y="17647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REGRA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58952" y="21488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nasce de um erro seu, não do /init. Se tirar a linha não muda o comportamento, ela sai.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63640" y="1600200"/>
            <a:ext cx="5440680" cy="1298448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19672" y="17647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CUSTO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19672" y="21488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CLAUDE.md paga em toda sessão. Skill paga ~100 tokens sempre e o corpo só quando dispara.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081528"/>
            <a:ext cx="5440680" cy="1298448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58952" y="3246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NÍVEIS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58952" y="363016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description sempre · corpo quando dispara · reference.md só quando alguém lê.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63640" y="3081528"/>
            <a:ext cx="5440680" cy="1298448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519672" y="3246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HIERARQUIA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519672" y="363016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CLAUDE.md o mais específico ganha. Nas skills, pessoal ganha de projeto.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2920" y="4562856"/>
            <a:ext cx="5440680" cy="1298448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58952" y="47274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SKILL × MCP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758952" y="511149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skill é o que ele sabe. MCP é o que ele alcança. Um não substitui o outro.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263640" y="4562856"/>
            <a:ext cx="5440680" cy="1298448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519672" y="47274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VALIDAÇÃO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519672" y="511149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três cenários, sessão limpa: dispara, não dispara, e o falso positivo.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502920" y="5943600"/>
            <a:ext cx="11155680" cy="566928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77240" y="594360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ELA NÃO SABIA DE NADA DISSO ATÉ VOCÊ CONTAR PRA ELA.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FECHAMENTO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4074566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407456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&lt;/ATIVIDADE DE FIXAÇÃO&gt;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645920"/>
            <a:ext cx="5449824" cy="3931920"/>
          </a:xfrm>
          <a:prstGeom prst="rect">
            <a:avLst/>
          </a:prstGeom>
          <a:solidFill>
            <a:srgbClr val="3D1247"/>
          </a:solidFill>
          <a:ln w="12700">
            <a:solidFill>
              <a:srgbClr val="6E4A7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8952" y="18470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DDC1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entrega mínima · todo mundo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58952" y="217627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REGRA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 A SKILL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58952" y="306324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regra testada no seu CLAUDE.md, com o antes/depois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skill invocável, com reference.md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dois números do /context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parágrafo pro dono do negócio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08776" y="1645920"/>
            <a:ext cx="5449824" cy="3931920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64808" y="18470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A04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entrega completa · quem quer ir além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464808" y="217627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VALIDAÇÃO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CRUZADA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464808" y="306324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tudo da mínima, mais: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relatório dos 3 cenários que você rodou na skill do seu par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relatório que o seu par rodou na sua</a:t>
            </a: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endParaRPr lang="en-US" sz="1200" dirty="0"/>
          </a:p>
          <a:p>
            <a:pPr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2A04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você mudou depois de ler o relatório dele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58064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Prazo: antes da aula 1 da semana 4. Rubrica e passo a passo no ENTREGAVEL.md. Formulário de sempre.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02920" y="638251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6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ref: ENTREGAVEL.md · forms.gle/PSd6i65g44GwBMgq6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AULA 6 · QUARTA, 19H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2187245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218724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&lt;/DEMO DAY&gt;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2920" y="1371600"/>
            <a:ext cx="11155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6072"/>
              </a:lnSpc>
              <a:buNone/>
            </a:pPr>
            <a:r>
              <a:rPr lang="en-US" sz="46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RED TEAM</a:t>
            </a:r>
            <a:endParaRPr lang="en-US" sz="4600" dirty="0"/>
          </a:p>
          <a:p>
            <a:pPr algn="l" indent="0" marL="0">
              <a:lnSpc>
                <a:spcPts val="6072"/>
              </a:lnSpc>
              <a:buNone/>
            </a:pPr>
            <a:r>
              <a:rPr lang="en-US" sz="46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EM DUPLAS</a:t>
            </a:r>
            <a:endParaRPr lang="en-US" sz="4600" dirty="0"/>
          </a:p>
        </p:txBody>
      </p:sp>
      <p:sp>
        <p:nvSpPr>
          <p:cNvPr id="9" name="Shape 5"/>
          <p:cNvSpPr/>
          <p:nvPr/>
        </p:nvSpPr>
        <p:spPr>
          <a:xfrm>
            <a:off x="502920" y="329184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32918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78408" y="323697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Você termina a sua skill nos primeiros 40 minutos. </a:t>
            </a:r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Eu circulo e destravo quem precisar.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2920" y="4005072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2920" y="40050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78408" y="39502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Sorteio das duplas ao vivo. </a:t>
            </a:r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Não anuncio antes: quem já sabe com quem vai trocar escreve a skill pensando na pessoa, e aí o teste não vale nada.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2920" y="4718304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47183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78408" y="4663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Você valida a skill do colega nos 3 cenários. </a:t>
            </a:r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DE6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Dispara quando deve · não dispara quando não deve · o falso positivo. Sessão limpa em cada um.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02920" y="5431536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2920" y="54315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78408" y="537667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Relatório cruzado no fim. </a:t>
            </a:r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Você entrega o relatório da skill dele. Ele entrega o da sua. Os dois vão pro entregável.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solidFill>
            <a:srgbClr val="2A042E"/>
          </a:solidFill>
          <a:ln w="38100">
            <a:solidFill>
              <a:srgbClr val="EDDC1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77240" y="58064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TRAZER PRONTO: A SKILL DO LAB 2, INVOCÁVEL.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SEM ELA, A SUA DUPLA FICA SEM O QUE TESTAR.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291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1520" y="3291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FECHAMENTO</a:t>
            </a:r>
            <a:endParaRPr lang="en-US" sz="1100" dirty="0"/>
          </a:p>
        </p:txBody>
      </p:sp>
      <p:pic>
        <p:nvPicPr>
          <p:cNvPr id="5" name="Image 0" descr="/tmp/claude-0/-home-claude/ca31b886-86c8-53af-843f-26cea956f08a/scratchpad/build/asset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292608"/>
            <a:ext cx="566928" cy="5669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868680"/>
            <a:ext cx="1715414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868680"/>
            <a:ext cx="17154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&lt;/LINKS&gt;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160020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1600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60120" y="1563624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agents.md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589520" y="156362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padrão aberto, com exemplo de arquivo real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2203704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2920" y="22037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60120" y="2167128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code.claude.com/docs/en/memory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589520" y="21671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CLAUDE.md, hierarquia, import com @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2807208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28072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60120" y="277063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code.claude.com/docs/en/best-practices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589520" y="27706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que entra e o que fica de fora, e o teste de corte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02920" y="3410712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2920" y="3410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960120" y="3374136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code.claude.com/docs/en/features-overview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7589520" y="33741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tabela de custo de contexto, e MCP vs Skill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02920" y="4014216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02920" y="4014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960120" y="397764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code.claude.com/docs/en/skills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7589520" y="39776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onde as skills moram, precedência, como avaliar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02920" y="4617720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46177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60120" y="4581144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anthropic.com/engineering/equipping-agents-for-the-real-world-with-agent-skills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7589520" y="458114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3 níveis, na fonte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02920" y="5221224"/>
            <a:ext cx="310896" cy="310896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02920" y="52212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960120" y="5184648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code.claude.com/docs/en/changelog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7589520" y="518464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confere aqui antes de acreditar em qualquer tutorial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DDC1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&lt;/COMPARTILHE SUA TRAJETÓRIA E EVOLUÇÃO!&gt;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A0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3593592" cy="6858000"/>
          </a:xfrm>
          <a:prstGeom prst="rect">
            <a:avLst/>
          </a:prstGeom>
          <a:solidFill>
            <a:srgbClr val="EDDC1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/tmp/claude-0/-home-claude/ca31b886-86c8-53af-843f-26cea956f08a/scratchpad/build/assets/star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51760"/>
            <a:ext cx="1645920" cy="1645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5577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PROGRAMADORES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DO AMANHÃ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4297680" y="1371600"/>
            <a:ext cx="3602736" cy="384048"/>
          </a:xfrm>
          <a:prstGeom prst="rect">
            <a:avLst/>
          </a:prstGeom>
          <a:solidFill>
            <a:srgbClr val="EDDC11"/>
          </a:solidFill>
          <a:ln w="12700">
            <a:solidFill>
              <a:srgbClr val="EDDC1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297680" y="1371600"/>
            <a:ext cx="3602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042E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&lt;/DÚVIDAS E SUPORTE&gt;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297680" y="21945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Iasmim Oliveira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4297680" y="29260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6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Facilitadora de Programação da Especialização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297680" y="374904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Discord da turma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repo da aula: github.com/&lt;org&gt;/pda-especializacao-ia</a:t>
            </a:r>
            <a:endParaRPr lang="en-US" sz="12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b="1" dirty="0">
                <a:solidFill>
                  <a:srgbClr val="EDDC1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› entregável: aula5-agents-md-skills/ENTREGAVEL.md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297680" y="55778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ATÉ VOCÊ CONTAR PRA ELA.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3 — AGENTS.md e Skills</dc:title>
  <dc:subject>PptxGenJS Presentation</dc:subject>
  <dc:creator>Iasmim Oliveira</dc:creator>
  <cp:lastModifiedBy>Iasmim Oliveira</cp:lastModifiedBy>
  <cp:revision>1</cp:revision>
  <dcterms:created xsi:type="dcterms:W3CDTF">2026-09-21T19:57:07Z</dcterms:created>
  <dcterms:modified xsi:type="dcterms:W3CDTF">2026-09-21T19:57:07Z</dcterms:modified>
</cp:coreProperties>
</file>